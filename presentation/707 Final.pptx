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9" r:id="rId2"/>
    <p:sldId id="260" r:id="rId3"/>
    <p:sldId id="263" r:id="rId4"/>
    <p:sldId id="267" r:id="rId5"/>
    <p:sldId id="270" r:id="rId6"/>
    <p:sldId id="273" r:id="rId7"/>
    <p:sldId id="275" r:id="rId8"/>
    <p:sldId id="27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46CEC6-CEF6-4682-9DCB-2846DB23DC36}" v="1" dt="2026-04-26T21:00:39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27"/>
  </p:normalViewPr>
  <p:slideViewPr>
    <p:cSldViewPr snapToGrid="0">
      <p:cViewPr varScale="1">
        <p:scale>
          <a:sx n="78" d="100"/>
          <a:sy n="78" d="100"/>
        </p:scale>
        <p:origin x="7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B4332"/>
                </a:solidFill>
              </a:defRPr>
            </a:pPr>
            <a:r>
              <a:rPr lang="en-US" sz="1600" b="1" dirty="0">
                <a:solidFill>
                  <a:srgbClr val="1B4332"/>
                </a:solidFill>
              </a:rPr>
              <a:t>Decision Distribution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v>Plays</c:v>
          </c:tx>
          <c:spPr>
            <a:solidFill>
              <a:srgbClr val="1B4332"/>
            </a:solidFill>
          </c:spPr>
          <c:invertIfNegative val="1"/>
          <c:dPt>
            <c:idx val="1"/>
            <c:invertIfNegative val="1"/>
            <c:bubble3D val="0"/>
            <c:spPr>
              <a:solidFill>
                <a:srgbClr val="40916C"/>
              </a:solidFill>
            </c:spPr>
            <c:extLst>
              <c:ext xmlns:c16="http://schemas.microsoft.com/office/drawing/2014/chart" uri="{C3380CC4-5D6E-409C-BE32-E72D297353CC}">
                <c16:uniqueId val="{00000001-97EC-F343-9645-C8EF15C6B8D3}"/>
              </c:ext>
            </c:extLst>
          </c:dPt>
          <c:dPt>
            <c:idx val="2"/>
            <c:invertIfNegative val="1"/>
            <c:bubble3D val="0"/>
            <c:spPr>
              <a:solidFill>
                <a:srgbClr val="D4A843"/>
              </a:solidFill>
            </c:spPr>
            <c:extLst>
              <c:ext xmlns:c16="http://schemas.microsoft.com/office/drawing/2014/chart" uri="{C3380CC4-5D6E-409C-BE32-E72D297353CC}">
                <c16:uniqueId val="{00000003-97EC-F343-9645-C8EF15C6B8D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344E41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Punt</c:v>
              </c:pt>
              <c:pt idx="1">
                <c:v>Field Goal</c:v>
              </c:pt>
              <c:pt idx="2">
                <c:v>Go for It</c:v>
              </c:pt>
            </c:strLit>
          </c:cat>
          <c:val>
            <c:numLit>
              <c:formatCode>General</c:formatCode>
              <c:ptCount val="3"/>
              <c:pt idx="0">
                <c:v>19488</c:v>
              </c:pt>
              <c:pt idx="1">
                <c:v>8571</c:v>
              </c:pt>
              <c:pt idx="2">
                <c:v>6838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97EC-F343-9645-C8EF15C6B8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344E4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B4332"/>
                </a:solidFill>
              </a:defRPr>
            </a:pPr>
            <a:r>
              <a:rPr lang="en-US" sz="1600" b="1" dirty="0">
                <a:solidFill>
                  <a:srgbClr val="1B4332"/>
                </a:solidFill>
              </a:rPr>
              <a:t>Model Accuracy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Accuracy</c:v>
          </c:tx>
          <c:spPr>
            <a:solidFill>
              <a:srgbClr val="1B4332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344E4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Logistic Reg.</c:v>
              </c:pt>
              <c:pt idx="1">
                <c:v>Random Forest</c:v>
              </c:pt>
              <c:pt idx="2">
                <c:v>XGBoost</c:v>
              </c:pt>
            </c:strLit>
          </c:cat>
          <c:val>
            <c:numLit>
              <c:formatCode>General</c:formatCode>
              <c:ptCount val="3"/>
              <c:pt idx="0">
                <c:v>0.65700000000000003</c:v>
              </c:pt>
              <c:pt idx="1">
                <c:v>0.66300000000000003</c:v>
              </c:pt>
              <c:pt idx="2">
                <c:v>0.85799999999999998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052-494F-830F-61ED69E403B5}"/>
            </c:ext>
          </c:extLst>
        </c:ser>
        <c:ser>
          <c:idx val="1"/>
          <c:order val="1"/>
          <c:tx>
            <c:v>Log Loss</c:v>
          </c:tx>
          <c:spPr>
            <a:solidFill>
              <a:srgbClr val="D4A843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>
                    <a:solidFill>
                      <a:srgbClr val="344E4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Logistic Reg.</c:v>
              </c:pt>
              <c:pt idx="1">
                <c:v>Random Forest</c:v>
              </c:pt>
              <c:pt idx="2">
                <c:v>XGBoost</c:v>
              </c:pt>
            </c:strLit>
          </c:cat>
          <c:val>
            <c:numLit>
              <c:formatCode>General</c:formatCode>
              <c:ptCount val="3"/>
              <c:pt idx="0">
                <c:v>0.72</c:v>
              </c:pt>
              <c:pt idx="1">
                <c:v>0.70199999999999996</c:v>
              </c:pt>
              <c:pt idx="2">
                <c:v>0.31900000000000001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8052-494F-830F-61ED69E403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344E41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44E41"/>
                </a:solidFill>
              </a:defRPr>
            </a:pPr>
            <a:endParaRPr lang="en-US"/>
          </a:p>
        </c:txPr>
        <c:crossAx val="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344E41"/>
              </a:solidFill>
            </a:defRPr>
          </a:pPr>
          <a:endParaRPr lang="en-US"/>
        </a:p>
      </c:txPr>
    </c:legend>
    <c:plotVisOnly val="1"/>
    <c:dispBlanksAs val="zero"/>
    <c:showDLblsOverMax val="1"/>
  </c:chart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39F2F-EA4D-C3CC-2A70-B2BA1BA1E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BFBB9-34AA-894B-20EF-44D6D1135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755D7-5823-EA85-7277-D3A5061A6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6426-B319-4344-B994-8FA860358A6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8A135-B00F-ECFC-A3DA-157CE57A3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AEAA3-8842-E5AD-C8CC-08BA76851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12453-E9F2-C040-8CC0-77ABE5F6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6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F4BD4-D035-B636-2081-C7EE6D1D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2351D-4FB8-56FE-7EF4-17536EF08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A6987-5F20-B5FC-ADE0-EA16982B1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6426-B319-4344-B994-8FA860358A6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37119-C7D4-842F-4357-E5D161E85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F6B73-A957-F1D4-0C3A-3C6724089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12453-E9F2-C040-8CC0-77ABE5F6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2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D7841-6447-7DF4-0DA8-269FB933C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9E4BD-EB4C-58CC-B8DF-91FF1D304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F99BC-FD33-D175-57B3-30DB114C5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6426-B319-4344-B994-8FA860358A6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785DC-E46F-4DE4-2C48-BCF3B935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671AE-E48E-F6C2-2E1E-399FEC78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12453-E9F2-C040-8CC0-77ABE5F6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F63C-ABB4-FF56-D28D-D28F686B6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79D05-6BF1-7D6C-DD3E-68476B107A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C77E7-0355-4FB3-3255-1854F1159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30D78-1D80-315B-6F50-C6F0730BE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6426-B319-4344-B994-8FA860358A6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EBDEE-4EBE-6B92-4F1F-946B88D7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CF646-CA7A-8D40-E8B0-76A48EC3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12453-E9F2-C040-8CC0-77ABE5F6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FE496-7879-5E53-2178-B7CCFBC30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01D63-2527-F17D-0A6F-40D80399C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5F0F7-0CE6-6F42-3780-547329D15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982A2D-7DBB-DD7F-B1A1-AADE329F2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D81DA-728F-9DF7-9BA4-D5948CB4E5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9F5D0-7253-70E6-07DB-9ACADE4C6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6426-B319-4344-B994-8FA860358A6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B6F32-CE41-0EF6-099F-7EDFD5E76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50584A-81CD-5890-CFE9-AA9DAE24D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12453-E9F2-C040-8CC0-77ABE5F6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1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08149-A5DD-0A30-FA85-A589902C0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8DF901-A63C-C0A7-FB4D-2D38C1215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6426-B319-4344-B994-8FA860358A6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2878A-BAD0-426A-528E-E9D3750F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99F52D-2C22-996F-1EBA-2382E115C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12453-E9F2-C040-8CC0-77ABE5F6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75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C84CD-BFDF-441C-4FC2-F714EAB2F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6426-B319-4344-B994-8FA860358A6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33B29-CA67-BD03-1463-CB19666CF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19607-5567-538D-212C-3B6006597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12453-E9F2-C040-8CC0-77ABE5F6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6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057B1-413A-1CC1-D0A2-E5D73B53A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82947-1ED3-0BAA-0BCA-8A49AEA8B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5025E-917D-8BE4-6C52-253BAFF9D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94806-67E4-9637-D775-164EABF69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6426-B319-4344-B994-8FA860358A6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34BE14-2FA2-131C-C5BC-59E84405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10920-D356-2772-1420-410DDDCCE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12453-E9F2-C040-8CC0-77ABE5F6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61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8AB0B-8A44-54E0-B0BD-1DC70225A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AF78C6-16F4-F434-2197-095333C4E0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D67C1A-D407-8162-CC7B-E78CEEA3A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A1B2C-BC2B-3DE2-6E12-018396A72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6426-B319-4344-B994-8FA860358A6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0DDAAE-973E-17A7-9794-60FD174EE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62608-D791-2628-54ED-E1A337CD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12453-E9F2-C040-8CC0-77ABE5F6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53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BB5CA-D836-488F-37E0-E2A39AC49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7E7B98-C75D-2DBD-7EAC-E03A5B0A95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50791-57F2-D618-E6E6-77AB67907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6426-B319-4344-B994-8FA860358A6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AFAF7-5FBC-E7CB-638C-ADBDB4B71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2194F-4158-2567-EBDB-46AB7016C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12453-E9F2-C040-8CC0-77ABE5F6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43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6D06BB-F35B-79CE-28DC-5B1D0DE50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14545-7700-CD25-5D82-EF8A1C0F5A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A30C0-CEB5-EE1A-ACB1-6242F3E6F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EB6426-B319-4344-B994-8FA860358A6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C5157-BDE9-7804-AE30-45AA33899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DD5A2-A995-E025-8E66-E9947C9D3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12453-E9F2-C040-8CC0-77ABE5F69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10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004775-3247-0375-833B-8FD2006E1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6F152-EBFC-1596-C91F-7F9B15A2D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8FBA5-4CC4-CFDA-6FB4-9C6EA080FB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B6426-B319-4344-B994-8FA860358A61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8831-C9A6-B45E-8C99-828ACE245B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B0542-200F-69D7-697F-4A0C114A6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12453-E9F2-C040-8CC0-77ABE5F695CD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GoldLine"/>
          <p:cNvSpPr/>
          <p:nvPr/>
        </p:nvSpPr>
        <p:spPr>
          <a:xfrm>
            <a:off x="0" y="6552000"/>
            <a:ext cx="12192000" cy="316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433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44E4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44E4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44E4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44E4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44E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44E4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44E4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44E4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44E41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344E41"/>
          </a:solidFill>
        </a:defRPr>
      </a:defPPr>
      <a:lvl1pPr marL="0" algn="l" defTabSz="914400" rtl="0" eaLnBrk="1" latinLnBrk="0" hangingPunct="1">
        <a:defRPr sz="1800" kern="1200">
          <a:solidFill>
            <a:srgbClr val="344E4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344E4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344E4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344E4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344E4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344E4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344E4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344E4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344E4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YardLine1"/>
          <p:cNvSpPr/>
          <p:nvPr/>
        </p:nvSpPr>
        <p:spPr>
          <a:xfrm>
            <a:off x="457200" y="914400"/>
            <a:ext cx="11277600" cy="18288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YardLine2"/>
          <p:cNvSpPr/>
          <p:nvPr/>
        </p:nvSpPr>
        <p:spPr>
          <a:xfrm>
            <a:off x="457200" y="5486400"/>
            <a:ext cx="11277600" cy="18288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GoldAccent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DownMarker"/>
          <p:cNvSpPr/>
          <p:nvPr/>
        </p:nvSpPr>
        <p:spPr>
          <a:xfrm>
            <a:off x="457199" y="591820"/>
            <a:ext cx="3045417" cy="1186180"/>
          </a:xfrm>
          <a:prstGeom prst="rect">
            <a:avLst/>
          </a:prstGeom>
          <a:noFill/>
          <a:ln w="28575">
            <a:solidFill>
              <a:srgbClr val="D4A843"/>
            </a:solidFill>
          </a:ln>
        </p:spPr>
        <p:txBody>
          <a:bodyPr lIns="137160" tIns="45720" rIns="91440" bIns="45720" anchor="ctr" anchorCtr="0"/>
          <a:lstStyle/>
          <a:p>
            <a:pPr algn="l">
              <a:buNone/>
            </a:pPr>
            <a:r>
              <a:rPr lang="en-US" sz="3600" b="1" dirty="0">
                <a:solidFill>
                  <a:srgbClr val="D4A843"/>
                </a:solidFill>
              </a:rPr>
              <a:t>4th &amp; Context</a:t>
            </a:r>
          </a:p>
        </p:txBody>
      </p:sp>
      <p:sp>
        <p:nvSpPr>
          <p:cNvPr id="14" name="MainTitle"/>
          <p:cNvSpPr/>
          <p:nvPr/>
        </p:nvSpPr>
        <p:spPr>
          <a:xfrm>
            <a:off x="457200" y="2476500"/>
            <a:ext cx="11277600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Quantifying Optimality in</a:t>
            </a:r>
          </a:p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NFL 4th Down Decisions</a:t>
            </a:r>
          </a:p>
        </p:txBody>
      </p:sp>
      <p:sp>
        <p:nvSpPr>
          <p:cNvPr id="15" name="Subtitle"/>
          <p:cNvSpPr/>
          <p:nvPr/>
        </p:nvSpPr>
        <p:spPr>
          <a:xfrm>
            <a:off x="457200" y="3683000"/>
            <a:ext cx="11277600" cy="457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buNone/>
            </a:pPr>
            <a:r>
              <a:rPr lang="en-US" sz="1800" dirty="0">
                <a:solidFill>
                  <a:srgbClr val="95D5B2"/>
                </a:solidFill>
              </a:rPr>
              <a:t>IST 707 Group Project  </a:t>
            </a:r>
          </a:p>
        </p:txBody>
      </p:sp>
      <p:sp>
        <p:nvSpPr>
          <p:cNvPr id="16" name="TeamInfo"/>
          <p:cNvSpPr/>
          <p:nvPr/>
        </p:nvSpPr>
        <p:spPr>
          <a:xfrm>
            <a:off x="457200" y="42545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buNone/>
            </a:pPr>
            <a:r>
              <a:rPr lang="en-US" sz="1600" dirty="0">
                <a:solidFill>
                  <a:srgbClr val="FFFFFF"/>
                </a:solidFill>
              </a:rPr>
              <a:t>Fred Gullo   |   Jared Weber   |   Gavin Stein</a:t>
            </a:r>
          </a:p>
          <a:p>
            <a:pPr algn="l">
              <a:buNone/>
            </a:pPr>
            <a:r>
              <a:rPr lang="en-US" sz="1400" dirty="0">
                <a:solidFill>
                  <a:srgbClr val="95D5B2"/>
                </a:solidFill>
              </a:rPr>
              <a:t>April 2026</a:t>
            </a:r>
          </a:p>
        </p:txBody>
      </p:sp>
      <p:sp>
        <p:nvSpPr>
          <p:cNvPr id="20" name="Hash0"/>
          <p:cNvSpPr/>
          <p:nvPr/>
        </p:nvSpPr>
        <p:spPr>
          <a:xfrm>
            <a:off x="114300" y="1143000"/>
            <a:ext cx="228600" cy="18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Hash1"/>
          <p:cNvSpPr/>
          <p:nvPr/>
        </p:nvSpPr>
        <p:spPr>
          <a:xfrm>
            <a:off x="114300" y="2057400"/>
            <a:ext cx="228600" cy="18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Hash2"/>
          <p:cNvSpPr/>
          <p:nvPr/>
        </p:nvSpPr>
        <p:spPr>
          <a:xfrm>
            <a:off x="114300" y="2971800"/>
            <a:ext cx="228600" cy="18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Hash3"/>
          <p:cNvSpPr/>
          <p:nvPr/>
        </p:nvSpPr>
        <p:spPr>
          <a:xfrm>
            <a:off x="114300" y="3886200"/>
            <a:ext cx="228600" cy="18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Hash4"/>
          <p:cNvSpPr/>
          <p:nvPr/>
        </p:nvSpPr>
        <p:spPr>
          <a:xfrm>
            <a:off x="114300" y="4800600"/>
            <a:ext cx="228600" cy="18288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213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6FD4-4DAA-696C-AAB4-C846C9CC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Problem &amp; Stakeholder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A82AA-8D7D-2B5D-F6C8-91C7042D6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D4A843"/>
                </a:solidFill>
              </a:rPr>
              <a:t>THE PROBLEM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Current 4th down analytics models (e.g., ESPN) use coarse inputs: score, distance, yard line, clock, and league-average offense/defense strength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They ignore individual coaching tendencies, formations, and the NFL's </a:t>
            </a:r>
            <a:r>
              <a:rPr lang="en-US" sz="2000" b="1" dirty="0"/>
              <a:t>dynamic kickoff rule</a:t>
            </a:r>
            <a:r>
              <a:rPr lang="en-US" sz="2000" dirty="0"/>
              <a:t> (2023–24), which shifted punt/FG risk-reward math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Models trained on historical league averages haven't adapted to the new </a:t>
            </a:r>
            <a:r>
              <a:rPr lang="en-US" sz="2000"/>
              <a:t>rule era</a:t>
            </a:r>
          </a:p>
          <a:p>
            <a:pPr marL="228600" indent="-228600">
              <a:buFont typeface="Arial"/>
              <a:buChar char="•"/>
            </a:pPr>
            <a:endParaRPr lang="en-US" sz="2000" dirty="0"/>
          </a:p>
          <a:p>
            <a:pPr algn="l">
              <a:buNone/>
            </a:pPr>
            <a:r>
              <a:rPr lang="en-US" sz="2400" b="1" dirty="0">
                <a:solidFill>
                  <a:srgbClr val="D4A843"/>
                </a:solidFill>
              </a:rPr>
              <a:t>STAKEHOLDERS</a:t>
            </a:r>
          </a:p>
          <a:p>
            <a:pPr marL="228600" indent="-228600">
              <a:buFont typeface="Arial"/>
              <a:buChar char="•"/>
            </a:pPr>
            <a:r>
              <a:rPr lang="en-US" sz="2000" b="1" dirty="0"/>
              <a:t>Primary: </a:t>
            </a:r>
            <a:r>
              <a:rPr lang="en-US" sz="2000" dirty="0"/>
              <a:t>NFL coaches and team analytics staff making real-time 4th down decisions</a:t>
            </a:r>
          </a:p>
          <a:p>
            <a:pPr marL="228600" indent="-228600">
              <a:buFont typeface="Arial"/>
              <a:buChar char="•"/>
            </a:pPr>
            <a:r>
              <a:rPr lang="en-US" sz="2000" b="1" dirty="0"/>
              <a:t>Secondary: </a:t>
            </a:r>
            <a:r>
              <a:rPr lang="en-US" sz="2000" dirty="0"/>
              <a:t>NFL rule change committee, broadcasters, and fans</a:t>
            </a:r>
          </a:p>
        </p:txBody>
      </p:sp>
    </p:spTree>
    <p:extLst>
      <p:ext uri="{BB962C8B-B14F-4D97-AF65-F5344CB8AC3E}">
        <p14:creationId xmlns:p14="http://schemas.microsoft.com/office/powerpoint/2010/main" val="1746519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9C865-6F46-45A7-9AF9-04B01270F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Envisioned Solution</a:t>
            </a:r>
          </a:p>
        </p:txBody>
      </p:sp>
      <p:sp>
        <p:nvSpPr>
          <p:cNvPr id="10" name="PrescriptiveBox"/>
          <p:cNvSpPr/>
          <p:nvPr/>
        </p:nvSpPr>
        <p:spPr>
          <a:xfrm>
            <a:off x="838200" y="1968500"/>
            <a:ext cx="5080000" cy="19685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 w="19050">
            <a:solidFill>
              <a:srgbClr val="D4A843"/>
            </a:solidFill>
          </a:ln>
        </p:spPr>
        <p:txBody>
          <a:bodyPr lIns="91440" tIns="54864" rIns="91440" bIns="54864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Prescriptive Model</a:t>
            </a:r>
          </a:p>
          <a:p>
            <a:pPr algn="ctr">
              <a:buNone/>
            </a:pPr>
            <a:r>
              <a:rPr lang="en-US" sz="1600" dirty="0">
                <a:solidFill>
                  <a:srgbClr val="95D5B2"/>
                </a:solidFill>
              </a:rPr>
              <a:t>"What should the coach do?"</a:t>
            </a:r>
          </a:p>
          <a:p>
            <a:pPr marL="171450" indent="-171450" algn="l"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Bins situations by distance, field position, score, era</a:t>
            </a:r>
          </a:p>
          <a:p>
            <a:pPr marL="171450" indent="-171450" algn="l"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Labels optimal decision via max EPA per bucket</a:t>
            </a:r>
          </a:p>
        </p:txBody>
      </p:sp>
      <p:sp>
        <p:nvSpPr>
          <p:cNvPr id="11" name="PredictiveBox"/>
          <p:cNvSpPr/>
          <p:nvPr/>
        </p:nvSpPr>
        <p:spPr>
          <a:xfrm>
            <a:off x="6273800" y="1968500"/>
            <a:ext cx="5080000" cy="19685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 w="19050">
            <a:solidFill>
              <a:srgbClr val="D4A843"/>
            </a:solidFill>
          </a:ln>
        </p:spPr>
        <p:txBody>
          <a:bodyPr lIns="91440" tIns="54864" rIns="91440" bIns="54864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Predictive Model</a:t>
            </a:r>
          </a:p>
          <a:p>
            <a:pPr algn="ctr">
              <a:buNone/>
            </a:pPr>
            <a:r>
              <a:rPr lang="en-US" sz="1600" dirty="0">
                <a:solidFill>
                  <a:srgbClr val="95D5B2"/>
                </a:solidFill>
              </a:rPr>
              <a:t>"What will the coach do?"</a:t>
            </a:r>
          </a:p>
          <a:p>
            <a:pPr marL="171450" indent="-171450" algn="l"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XGBoost on pre-snap features</a:t>
            </a:r>
          </a:p>
          <a:p>
            <a:pPr marL="171450" indent="-171450" algn="l"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Forecasts actual coach call with 98% accuracy</a:t>
            </a:r>
          </a:p>
        </p:txBody>
      </p:sp>
      <p:sp>
        <p:nvSpPr>
          <p:cNvPr id="12" name="Arrow1"/>
          <p:cNvSpPr/>
          <p:nvPr/>
        </p:nvSpPr>
        <p:spPr>
          <a:xfrm>
            <a:off x="3048000" y="4000500"/>
            <a:ext cx="660400" cy="635000"/>
          </a:xfrm>
          <a:prstGeom prst="downArrow">
            <a:avLst/>
          </a:prstGeom>
          <a:solidFill>
            <a:srgbClr val="D4A84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Arrow2"/>
          <p:cNvSpPr/>
          <p:nvPr/>
        </p:nvSpPr>
        <p:spPr>
          <a:xfrm>
            <a:off x="8483600" y="4000500"/>
            <a:ext cx="660400" cy="635000"/>
          </a:xfrm>
          <a:prstGeom prst="downArrow">
            <a:avLst/>
          </a:prstGeom>
          <a:solidFill>
            <a:srgbClr val="D4A84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apBox"/>
          <p:cNvSpPr/>
          <p:nvPr/>
        </p:nvSpPr>
        <p:spPr>
          <a:xfrm>
            <a:off x="2032000" y="4762500"/>
            <a:ext cx="8128000" cy="889000"/>
          </a:xfrm>
          <a:prstGeom prst="roundRect">
            <a:avLst>
              <a:gd name="adj" fmla="val 12000"/>
            </a:avLst>
          </a:prstGeom>
          <a:solidFill>
            <a:srgbClr val="D4A843"/>
          </a:solidFill>
          <a:ln>
            <a:noFill/>
          </a:ln>
        </p:spPr>
        <p:txBody>
          <a:bodyPr lIns="91440" tIns="27432" rIns="91440" bIns="27432" anchor="ctr"/>
          <a:lstStyle/>
          <a:p>
            <a:pPr algn="ctr">
              <a:buNone/>
            </a:pPr>
            <a:r>
              <a:rPr lang="en-US" sz="2400" b="1" dirty="0">
                <a:solidFill>
                  <a:srgbClr val="1B4332"/>
                </a:solidFill>
              </a:rPr>
              <a:t>The Gap = Actionable Insight</a:t>
            </a:r>
          </a:p>
          <a:p>
            <a:pPr algn="ctr">
              <a:buNone/>
            </a:pPr>
            <a:r>
              <a:rPr lang="en-US" dirty="0">
                <a:solidFill>
                  <a:srgbClr val="344E41"/>
                </a:solidFill>
              </a:rPr>
              <a:t>Which coaches diverge from optimal, and what does it cost?</a:t>
            </a:r>
          </a:p>
        </p:txBody>
      </p:sp>
      <p:sp>
        <p:nvSpPr>
          <p:cNvPr id="15" name="Arrow3"/>
          <p:cNvSpPr/>
          <p:nvPr/>
        </p:nvSpPr>
        <p:spPr>
          <a:xfrm>
            <a:off x="5765800" y="5715000"/>
            <a:ext cx="660400" cy="381000"/>
          </a:xfrm>
          <a:prstGeom prst="downArrow">
            <a:avLst/>
          </a:prstGeom>
          <a:solidFill>
            <a:srgbClr val="D4A84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OutputBox"/>
          <p:cNvSpPr/>
          <p:nvPr/>
        </p:nvSpPr>
        <p:spPr>
          <a:xfrm>
            <a:off x="2794000" y="6134100"/>
            <a:ext cx="6604000" cy="508000"/>
          </a:xfrm>
          <a:prstGeom prst="roundRect">
            <a:avLst>
              <a:gd name="adj" fmla="val 16000"/>
            </a:avLst>
          </a:prstGeom>
          <a:solidFill>
            <a:srgbClr val="52796F"/>
          </a:solidFill>
          <a:ln w="19050">
            <a:solidFill>
              <a:srgbClr val="95D5B2"/>
            </a:solidFill>
          </a:ln>
        </p:spPr>
        <p:txBody>
          <a:bodyPr lIns="91440" tIns="18288" rIns="91440" bIns="18288" anchor="ctr"/>
          <a:lstStyle/>
          <a:p>
            <a:pPr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Coach Decision Support Dashboard</a:t>
            </a:r>
          </a:p>
        </p:txBody>
      </p:sp>
    </p:spTree>
    <p:extLst>
      <p:ext uri="{BB962C8B-B14F-4D97-AF65-F5344CB8AC3E}">
        <p14:creationId xmlns:p14="http://schemas.microsoft.com/office/powerpoint/2010/main" val="3095182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8C385-3D03-F8BE-38C0-FADAC92F7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Data</a:t>
            </a:r>
          </a:p>
        </p:txBody>
      </p:sp>
      <p:sp>
        <p:nvSpPr>
          <p:cNvPr id="10" name="DataDetails"/>
          <p:cNvSpPr/>
          <p:nvPr/>
        </p:nvSpPr>
        <p:spPr>
          <a:xfrm>
            <a:off x="838200" y="1841500"/>
            <a:ext cx="6096000" cy="4572000"/>
          </a:xfrm>
          <a:prstGeom prst="rect">
            <a:avLst/>
          </a:prstGeom>
          <a:noFill/>
          <a:ln>
            <a:noFill/>
          </a:ln>
        </p:spPr>
        <p:txBody>
          <a:bodyPr lIns="0" tIns="0" rIns="4572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D4A843"/>
                </a:solidFill>
              </a:rPr>
              <a:t>SOURCE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nflFastR play-by-play data, 2018–2025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38,762 raw 4th down plays → </a:t>
            </a:r>
            <a:r>
              <a:rPr lang="en-US" sz="2000" b="1" dirty="0"/>
              <a:t>34,897 usable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372 raw variables → </a:t>
            </a:r>
            <a:r>
              <a:rPr lang="en-US" sz="2000" b="1" dirty="0"/>
              <a:t>113 model-ready features</a:t>
            </a:r>
          </a:p>
          <a:p>
            <a:pPr marL="228600" indent="-228600">
              <a:buFont typeface="Arial"/>
              <a:buChar char="•"/>
            </a:pPr>
            <a:endParaRPr lang="en-US" sz="2000" b="1" dirty="0"/>
          </a:p>
          <a:p>
            <a:pPr algn="l">
              <a:buNone/>
            </a:pPr>
            <a:r>
              <a:rPr lang="en-US" sz="2000" b="1" dirty="0">
                <a:solidFill>
                  <a:srgbClr val="D4A843"/>
                </a:solidFill>
              </a:rPr>
              <a:t>AUGMENTATION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Custom playcaller dataset: weekly offensive coordinator for every team/season (no public source)</a:t>
            </a:r>
          </a:p>
          <a:p>
            <a:pPr marL="228600" indent="-228600">
              <a:buFont typeface="Arial"/>
              <a:buChar char="•"/>
            </a:pPr>
            <a:endParaRPr lang="en-US" sz="2000" dirty="0"/>
          </a:p>
          <a:p>
            <a:pPr algn="l">
              <a:buNone/>
            </a:pPr>
            <a:r>
              <a:rPr lang="en-US" sz="2000" b="1" dirty="0">
                <a:solidFill>
                  <a:srgbClr val="D4A843"/>
                </a:solidFill>
              </a:rPr>
              <a:t>TRAIN / TEST SPLIT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Train: 2018–2023 (26,351)  |  Test: 2024 (4,556)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Temporal split prevents data leakage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7048500" y="1841500"/>
          <a:ext cx="469900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40585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6DF01-5193-6668-6F6F-CBF017BAE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800" b="1" dirty="0"/>
              <a:t>Initial Results — Prescriptive Model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838200" y="1841500"/>
          <a:ext cx="6604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akeaway"/>
          <p:cNvSpPr/>
          <p:nvPr/>
        </p:nvSpPr>
        <p:spPr>
          <a:xfrm>
            <a:off x="7620000" y="1841500"/>
            <a:ext cx="4191000" cy="3810000"/>
          </a:xfrm>
          <a:prstGeom prst="rect">
            <a:avLst/>
          </a:prstGeom>
          <a:solidFill>
            <a:srgbClr val="F0F4F2"/>
          </a:solidFill>
          <a:ln w="12700">
            <a:solidFill>
              <a:srgbClr val="95D5B2"/>
            </a:solidFill>
          </a:ln>
        </p:spPr>
        <p:txBody>
          <a:bodyPr lIns="91440" tIns="91440" rIns="9144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D4A843"/>
                </a:solidFill>
              </a:rPr>
              <a:t>KEY TAKEAWAY</a:t>
            </a:r>
          </a:p>
          <a:p>
            <a:pPr algn="l">
              <a:buNone/>
            </a:pPr>
            <a:r>
              <a:rPr lang="en-US" dirty="0">
                <a:solidFill>
                  <a:srgbClr val="344E41"/>
                </a:solidFill>
              </a:rPr>
              <a:t>XGBoost (tuned via 30-iteration randomized search, 3-fold CV) is the clear winner at </a:t>
            </a:r>
            <a:r>
              <a:rPr lang="en-US" b="1" dirty="0">
                <a:solidFill>
                  <a:srgbClr val="1B4332"/>
                </a:solidFill>
              </a:rPr>
              <a:t>85.8% accuracy</a:t>
            </a:r>
            <a:r>
              <a:rPr lang="en-US" dirty="0">
                <a:solidFill>
                  <a:srgbClr val="344E41"/>
                </a:solidFill>
              </a:rPr>
              <a:t>.</a:t>
            </a:r>
          </a:p>
          <a:p>
            <a:pPr algn="l">
              <a:buNone/>
            </a:pPr>
            <a:endParaRPr lang="en-US" dirty="0">
              <a:solidFill>
                <a:srgbClr val="344E41"/>
              </a:solidFill>
            </a:endParaRPr>
          </a:p>
          <a:p>
            <a:pPr algn="l">
              <a:buNone/>
            </a:pPr>
            <a:r>
              <a:rPr lang="en-US" dirty="0">
                <a:solidFill>
                  <a:srgbClr val="344E41"/>
                </a:solidFill>
              </a:rPr>
              <a:t>Using this, we created a decision heatmap (optimal decision by field position and yards-to-go) that aligns with football intuition: punt deep, go for it on short yardage near midfield, FG in the red zone.</a:t>
            </a:r>
          </a:p>
        </p:txBody>
      </p:sp>
      <p:sp>
        <p:nvSpPr>
          <p:cNvPr id="21" name="Note"/>
          <p:cNvSpPr/>
          <p:nvPr/>
        </p:nvSpPr>
        <p:spPr>
          <a:xfrm>
            <a:off x="838200" y="57785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ctr">
              <a:buNone/>
            </a:pPr>
            <a:r>
              <a:rPr lang="en-US" sz="1600" b="1" i="1" dirty="0">
                <a:solidFill>
                  <a:srgbClr val="52796F"/>
                </a:solidFill>
              </a:rPr>
              <a:t>Validated: The neutral-game heatmap recovers football common sense — the model is learning real structure, not noise.</a:t>
            </a:r>
          </a:p>
        </p:txBody>
      </p:sp>
    </p:spTree>
    <p:extLst>
      <p:ext uri="{BB962C8B-B14F-4D97-AF65-F5344CB8AC3E}">
        <p14:creationId xmlns:p14="http://schemas.microsoft.com/office/powerpoint/2010/main" val="2542960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262F8-E3E3-CB8C-7799-A0999232F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2400" b="1" dirty="0"/>
              <a:t>Initial Results — Predictive Model &amp; Stakeholder Impact</a:t>
            </a:r>
          </a:p>
        </p:txBody>
      </p:sp>
      <p:sp>
        <p:nvSpPr>
          <p:cNvPr id="10" name="Stat0"/>
          <p:cNvSpPr/>
          <p:nvPr/>
        </p:nvSpPr>
        <p:spPr>
          <a:xfrm>
            <a:off x="838200" y="18415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>
            <a:noFill/>
          </a:ln>
        </p:spPr>
        <p:txBody>
          <a:bodyPr lIns="54864" tIns="36576" rIns="54864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95D5B2"/>
                </a:solidFill>
              </a:rPr>
              <a:t>Predictive Accuracy</a:t>
            </a:r>
          </a:p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98.0%</a:t>
            </a:r>
          </a:p>
          <a:p>
            <a:pPr algn="ctr">
              <a:buNone/>
            </a:pPr>
            <a:r>
              <a:rPr lang="en-US" sz="1400" dirty="0">
                <a:solidFill>
                  <a:srgbClr val="95D5B2"/>
                </a:solidFill>
              </a:rPr>
              <a:t>Log loss: 0.06</a:t>
            </a:r>
          </a:p>
        </p:txBody>
      </p:sp>
      <p:sp>
        <p:nvSpPr>
          <p:cNvPr id="11" name="Stat1"/>
          <p:cNvSpPr/>
          <p:nvPr/>
        </p:nvSpPr>
        <p:spPr>
          <a:xfrm>
            <a:off x="3568700" y="18415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>
            <a:noFill/>
          </a:ln>
        </p:spPr>
        <p:txBody>
          <a:bodyPr lIns="54864" tIns="36576" rIns="54864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95D5B2"/>
                </a:solidFill>
              </a:rPr>
              <a:t>League Agreement</a:t>
            </a:r>
          </a:p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57.2%</a:t>
            </a:r>
          </a:p>
          <a:p>
            <a:pPr algn="ctr">
              <a:buNone/>
            </a:pPr>
            <a:r>
              <a:rPr lang="en-US" sz="1400" dirty="0">
                <a:solidFill>
                  <a:srgbClr val="95D5B2"/>
                </a:solidFill>
              </a:rPr>
              <a:t>Actual vs. optimal</a:t>
            </a:r>
          </a:p>
        </p:txBody>
      </p:sp>
      <p:sp>
        <p:nvSpPr>
          <p:cNvPr id="12" name="Stat2"/>
          <p:cNvSpPr/>
          <p:nvPr/>
        </p:nvSpPr>
        <p:spPr>
          <a:xfrm>
            <a:off x="6299200" y="18415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52796F"/>
          </a:solidFill>
          <a:ln>
            <a:noFill/>
          </a:ln>
        </p:spPr>
        <p:txBody>
          <a:bodyPr lIns="54864" tIns="36576" rIns="54864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95D5B2"/>
                </a:solidFill>
              </a:rPr>
              <a:t>Divergent Plays</a:t>
            </a:r>
          </a:p>
          <a:p>
            <a:pPr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1,627</a:t>
            </a:r>
          </a:p>
          <a:p>
            <a:pPr algn="ctr">
              <a:buNone/>
            </a:pPr>
            <a:r>
              <a:rPr lang="en-US" sz="1400" dirty="0">
                <a:solidFill>
                  <a:srgbClr val="95D5B2"/>
                </a:solidFill>
              </a:rPr>
              <a:t>In 2024 season</a:t>
            </a:r>
          </a:p>
        </p:txBody>
      </p:sp>
      <p:sp>
        <p:nvSpPr>
          <p:cNvPr id="13" name="Stat3"/>
          <p:cNvSpPr/>
          <p:nvPr/>
        </p:nvSpPr>
        <p:spPr>
          <a:xfrm>
            <a:off x="9029700" y="18415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D4A843"/>
          </a:solidFill>
          <a:ln>
            <a:noFill/>
          </a:ln>
        </p:spPr>
        <p:txBody>
          <a:bodyPr lIns="54864" tIns="36576" rIns="54864" bIns="27432" anchor="ctr"/>
          <a:lstStyle/>
          <a:p>
            <a:pPr algn="ctr">
              <a:buNone/>
            </a:pPr>
            <a:r>
              <a:rPr lang="en-US" sz="1400" dirty="0">
                <a:solidFill>
                  <a:srgbClr val="344E41"/>
                </a:solidFill>
              </a:rPr>
              <a:t>EPA Left on Table</a:t>
            </a:r>
          </a:p>
          <a:p>
            <a:pPr algn="ctr">
              <a:buNone/>
            </a:pPr>
            <a:r>
              <a:rPr lang="en-US" sz="2800" b="1" dirty="0">
                <a:solidFill>
                  <a:srgbClr val="1B4332"/>
                </a:solidFill>
              </a:rPr>
              <a:t>1,752</a:t>
            </a:r>
          </a:p>
          <a:p>
            <a:pPr algn="ctr">
              <a:buNone/>
            </a:pPr>
            <a:r>
              <a:rPr lang="en-US" sz="1400" dirty="0">
                <a:solidFill>
                  <a:srgbClr val="344E41"/>
                </a:solidFill>
              </a:rPr>
              <a:t>Avg 1.08 per play</a:t>
            </a:r>
          </a:p>
        </p:txBody>
      </p:sp>
      <p:sp>
        <p:nvSpPr>
          <p:cNvPr id="20" name="PlaycallerSection"/>
          <p:cNvSpPr/>
          <p:nvPr/>
        </p:nvSpPr>
        <p:spPr>
          <a:xfrm>
            <a:off x="838200" y="3365500"/>
            <a:ext cx="10922000" cy="2921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>
              <a:buNone/>
            </a:pPr>
            <a:r>
              <a:rPr lang="en-US" sz="2000" b="1" dirty="0">
                <a:solidFill>
                  <a:srgbClr val="D4A843"/>
                </a:solidFill>
              </a:rPr>
              <a:t>PLAYCALLER AGREEMENT WITH OPTIMAL</a:t>
            </a:r>
          </a:p>
          <a:p>
            <a:pPr marL="228600" indent="-228600">
              <a:buFont typeface="Arial"/>
              <a:buChar char="•"/>
            </a:pPr>
            <a:r>
              <a:rPr lang="en-US" dirty="0"/>
              <a:t>Top 25 playcallers by volume: actual vs. predicted agreement with EPA-optimal call</a:t>
            </a:r>
          </a:p>
          <a:p>
            <a:pPr marL="228600" indent="-228600">
              <a:buFont typeface="Arial"/>
              <a:buChar char="•"/>
            </a:pPr>
            <a:r>
              <a:rPr lang="en-US" b="1" dirty="0"/>
              <a:t>Best: </a:t>
            </a:r>
            <a:r>
              <a:rPr lang="en-US" dirty="0"/>
              <a:t>Brian Johnson (70.8%), Anthony Lynn (67.2%), Joe Philbin, Kliff Kingsbury</a:t>
            </a:r>
          </a:p>
          <a:p>
            <a:pPr marL="228600" indent="-228600">
              <a:buFont typeface="Arial"/>
              <a:buChar char="•"/>
            </a:pPr>
            <a:r>
              <a:rPr lang="en-US" b="1" dirty="0"/>
              <a:t>Lowest among high-volume: </a:t>
            </a:r>
            <a:r>
              <a:rPr lang="en-US" dirty="0"/>
              <a:t>Kyle Shanahan</a:t>
            </a:r>
          </a:p>
          <a:p>
            <a:pPr marL="228600" indent="-228600">
              <a:buFont typeface="Arial"/>
              <a:buChar char="•"/>
            </a:pPr>
            <a:r>
              <a:rPr lang="en-US" dirty="0"/>
              <a:t>Actual vs. predicted agreement values nearly identical for every coach — </a:t>
            </a:r>
            <a:r>
              <a:rPr lang="en-US" b="1" dirty="0"/>
              <a:t>validating</a:t>
            </a:r>
            <a:r>
              <a:rPr lang="en-US" dirty="0"/>
              <a:t> the predictive model captures real coach behavior</a:t>
            </a:r>
          </a:p>
          <a:p>
            <a:pPr algn="l">
              <a:buNone/>
            </a:pPr>
            <a:endParaRPr lang="en-US" i="1" dirty="0">
              <a:solidFill>
                <a:srgbClr val="52796F"/>
              </a:solidFill>
            </a:endParaRPr>
          </a:p>
          <a:p>
            <a:pPr algn="ctr">
              <a:buNone/>
            </a:pPr>
            <a:r>
              <a:rPr lang="en-US" b="1" i="1" dirty="0">
                <a:solidFill>
                  <a:srgbClr val="52796F"/>
                </a:solidFill>
              </a:rPr>
              <a:t>Headline: NFL coaches left 1,752 total EPA on the table in 2024 by diverging from optimal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2327894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7FB27-E5FF-CF3F-2FA5-12C116833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n-US" b="1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4B7EC-12AA-7298-0FDA-8015C7F04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D4A843"/>
                </a:solidFill>
              </a:rPr>
              <a:t>1. Sparse Situational Buckets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Four binning dimensions (distance × field position × score × era) create buckets with very few plays for rare decision types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EPA-optimal labels become noisy in low-count situations — a key source of model uncertainty</a:t>
            </a:r>
          </a:p>
          <a:p>
            <a:pPr marL="228600" indent="-228600">
              <a:buFont typeface="Arial"/>
              <a:buChar char="•"/>
            </a:pPr>
            <a:endParaRPr lang="en-US" sz="2000" dirty="0"/>
          </a:p>
          <a:p>
            <a:pPr algn="l">
              <a:buNone/>
            </a:pPr>
            <a:r>
              <a:rPr lang="en-US" sz="2400" b="1" dirty="0">
                <a:solidFill>
                  <a:srgbClr val="D4A843"/>
                </a:solidFill>
              </a:rPr>
              <a:t>2. Cluster Profiling Incomplete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K-means clustering of 4th down scenarios was performed, but profiling distinct types (e.g., "Desperate 4th &amp; long," "Aggressive midfield") is not yet finalized</a:t>
            </a:r>
          </a:p>
          <a:p>
            <a:pPr marL="228600" indent="-228600">
              <a:buFont typeface="Arial"/>
              <a:buChar char="•"/>
            </a:pPr>
            <a:endParaRPr lang="en-US" sz="2000" dirty="0"/>
          </a:p>
          <a:p>
            <a:pPr algn="l">
              <a:buNone/>
            </a:pPr>
            <a:r>
              <a:rPr lang="en-US" sz="2400" b="1" dirty="0">
                <a:solidFill>
                  <a:srgbClr val="D4A843"/>
                </a:solidFill>
              </a:rPr>
              <a:t>3. Coverage &amp; Formation Data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Defensive scheme and pre-snap coverage data are sparse in public sources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Evaluating manual coding from All-22 film for high-leverage plays vs. scoping down</a:t>
            </a:r>
          </a:p>
        </p:txBody>
      </p:sp>
    </p:spTree>
    <p:extLst>
      <p:ext uri="{BB962C8B-B14F-4D97-AF65-F5344CB8AC3E}">
        <p14:creationId xmlns:p14="http://schemas.microsoft.com/office/powerpoint/2010/main" val="4278748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19FA2-ECA2-AED4-A676-E56662D3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496"/>
            <a:ext cx="10515600" cy="1325563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4800" b="1" dirty="0"/>
              <a:t>Plan &amp;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D6ABC-90E8-71F3-EB9D-E3FE256EE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877"/>
            <a:ext cx="10515600" cy="5289755"/>
          </a:xfrm>
        </p:spPr>
        <p:txBody>
          <a:bodyPr>
            <a:normAutofit fontScale="92500" lnSpcReduction="10000"/>
          </a:bodyPr>
          <a:lstStyle/>
          <a:p>
            <a:pPr algn="l">
              <a:buNone/>
            </a:pPr>
            <a:r>
              <a:rPr lang="en-US" sz="2000" b="1" dirty="0">
                <a:solidFill>
                  <a:srgbClr val="D4A843"/>
                </a:solidFill>
              </a:rPr>
              <a:t>MODEL REFINEMENT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/>
              <a:t>Address bucket sparsity with smoothing or hierarchical priors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/>
              <a:t>Investigate prescriptive model's tendency to over-recommend "go for it”</a:t>
            </a:r>
          </a:p>
          <a:p>
            <a:pPr marL="228600" indent="-228600">
              <a:buFont typeface="Arial"/>
              <a:buChar char="•"/>
            </a:pPr>
            <a:endParaRPr lang="en-US" sz="1800" dirty="0"/>
          </a:p>
          <a:p>
            <a:pPr algn="l">
              <a:buNone/>
            </a:pPr>
            <a:r>
              <a:rPr lang="en-US" sz="2000" b="1" dirty="0">
                <a:solidFill>
                  <a:srgbClr val="D4A843"/>
                </a:solidFill>
              </a:rPr>
              <a:t>INTEGRATION &amp; ANALYSIS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/>
              <a:t>Integrate cluster profiles into model output — contextual narratives, not just a label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/>
              <a:t>Build coach tendency profiles: quantify each playcaller's historical bias vs. optimal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/>
              <a:t>Film validation of select high-divergence plays from 2024 test season</a:t>
            </a:r>
          </a:p>
          <a:p>
            <a:pPr marL="228600" indent="-228600">
              <a:buFont typeface="Arial"/>
              <a:buChar char="•"/>
            </a:pPr>
            <a:endParaRPr lang="en-US" sz="1800" dirty="0"/>
          </a:p>
          <a:p>
            <a:pPr>
              <a:buNone/>
            </a:pPr>
            <a:r>
              <a:rPr lang="en-US" sz="2000" b="1" dirty="0">
                <a:solidFill>
                  <a:srgbClr val="D4A843"/>
                </a:solidFill>
              </a:rPr>
              <a:t>YEAR-OVER-YEAR TRENDS</a:t>
            </a:r>
          </a:p>
          <a:p>
            <a:pPr>
              <a:buFont typeface="Arial"/>
              <a:buChar char="•"/>
            </a:pPr>
            <a:r>
              <a:rPr lang="en-US" sz="1800" dirty="0"/>
              <a:t>Analyze overall trend in coach agreement/optimal decisions by year</a:t>
            </a:r>
          </a:p>
          <a:p>
            <a:pPr>
              <a:buFont typeface="Arial"/>
              <a:buChar char="•"/>
            </a:pPr>
            <a:r>
              <a:rPr lang="en-US" sz="1800" dirty="0"/>
              <a:t>Quantify change in value due to kickoff rule changes (fixed effects?)</a:t>
            </a:r>
          </a:p>
          <a:p>
            <a:pPr marL="228600" indent="-228600">
              <a:buFont typeface="Arial"/>
              <a:buChar char="•"/>
            </a:pPr>
            <a:endParaRPr lang="en-US" sz="1800" dirty="0"/>
          </a:p>
          <a:p>
            <a:pPr algn="l">
              <a:buNone/>
            </a:pPr>
            <a:r>
              <a:rPr lang="en-US" sz="2000" b="1" dirty="0">
                <a:solidFill>
                  <a:srgbClr val="D4A843"/>
                </a:solidFill>
              </a:rPr>
              <a:t>FINAL DELIVERABLE</a:t>
            </a:r>
          </a:p>
          <a:p>
            <a:pPr marL="228600" indent="-228600">
              <a:buFont typeface="Arial"/>
              <a:buChar char="•"/>
            </a:pPr>
            <a:r>
              <a:rPr lang="en-US" sz="1800" dirty="0"/>
              <a:t>Decision dashboard prototype: input a 4th down situation → returns </a:t>
            </a:r>
            <a:r>
              <a:rPr lang="en-US" sz="1800" b="1" dirty="0"/>
              <a:t>(a)</a:t>
            </a:r>
            <a:r>
              <a:rPr lang="en-US" sz="1800" dirty="0"/>
              <a:t> predicted coach decision, </a:t>
            </a:r>
            <a:r>
              <a:rPr lang="en-US" sz="1800" b="1" dirty="0"/>
              <a:t>(b)</a:t>
            </a:r>
            <a:r>
              <a:rPr lang="en-US" sz="1800" dirty="0"/>
              <a:t> EPA-optimal recommendation, </a:t>
            </a:r>
            <a:r>
              <a:rPr lang="en-US" sz="1800" b="1" dirty="0"/>
              <a:t>(c)</a:t>
            </a:r>
            <a:r>
              <a:rPr lang="en-US" sz="1800" dirty="0"/>
              <a:t> expected EPA cost of diverging</a:t>
            </a:r>
          </a:p>
        </p:txBody>
      </p:sp>
    </p:spTree>
    <p:extLst>
      <p:ext uri="{BB962C8B-B14F-4D97-AF65-F5344CB8AC3E}">
        <p14:creationId xmlns:p14="http://schemas.microsoft.com/office/powerpoint/2010/main" val="3228533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139524064]">
  <a:themeElements>
    <a:clrScheme name="Office">
      <a:dk1>
        <a:srgbClr val="1B4332"/>
      </a:dk1>
      <a:lt1>
        <a:srgbClr val="FFFFFF"/>
      </a:lt1>
      <a:dk2>
        <a:srgbClr val="2D6A4F"/>
      </a:dk2>
      <a:lt2>
        <a:srgbClr val="F0F4F2"/>
      </a:lt2>
      <a:accent1>
        <a:srgbClr val="1B4332"/>
      </a:accent1>
      <a:accent2>
        <a:srgbClr val="40916C"/>
      </a:accent2>
      <a:accent3>
        <a:srgbClr val="95D5B2"/>
      </a:accent3>
      <a:accent4>
        <a:srgbClr val="D4A843"/>
      </a:accent4>
      <a:accent5>
        <a:srgbClr val="52796F"/>
      </a:accent5>
      <a:accent6>
        <a:srgbClr val="344E41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731A0A-5C7A-2F4D-AFB2-627D6687B385}">
  <we:reference id="f5f369e5-aa35-49d7-ad7b-638152ddb008" version="1.0.0.1" store="EXCatalog" storeType="EXCatalog"/>
  <we:alternateReferences>
    <we:reference id="WA200010001" version="1.0.0.1" store="en-US" storeType="OMEX"/>
  </we:alternateReferences>
  <we:properties>
    <we:property name="claude.fileId" value="&quot;e43c5f6e-94e7-4c39-8a62-75abc6e8b94d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4278a402-1a9e-4eb9-8414-ffb55a5fcf1e}" enabled="0" method="" siteId="{4278a402-1a9e-4eb9-8414-ffb55a5fcf1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702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 [1777139524064]</vt:lpstr>
      <vt:lpstr>PowerPoint Presentation</vt:lpstr>
      <vt:lpstr>Problem &amp; Stakeholder</vt:lpstr>
      <vt:lpstr>Envisioned Solution</vt:lpstr>
      <vt:lpstr>Data</vt:lpstr>
      <vt:lpstr>Initial Results — Prescriptive Model</vt:lpstr>
      <vt:lpstr>Initial Results — Predictive Model &amp; Stakeholder Impact</vt:lpstr>
      <vt:lpstr>Challenges</vt:lpstr>
      <vt:lpstr>Plan &amp; 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Gavin Stein</dc:creator>
  <cp:lastModifiedBy>Fred Gullo</cp:lastModifiedBy>
  <cp:revision>3</cp:revision>
  <dcterms:created xsi:type="dcterms:W3CDTF">2026-04-25T17:51:13Z</dcterms:created>
  <dcterms:modified xsi:type="dcterms:W3CDTF">2026-04-27T03:03:34Z</dcterms:modified>
</cp:coreProperties>
</file>